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31" autoAdjust="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5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03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45720"/>
          </a:xfrm>
          <a:prstGeom prst="rect">
            <a:avLst/>
          </a:prstGeom>
          <a:solidFill>
            <a:srgbClr val="E06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75488" y="256032"/>
            <a:ext cx="475488" cy="475488"/>
          </a:xfrm>
          <a:prstGeom prst="roundRect">
            <a:avLst/>
          </a:prstGeom>
          <a:solidFill>
            <a:srgbClr val="1D5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182880"/>
            <a:ext cx="7863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微软雅黑"/>
              </a:rPr>
              <a:t>ParkTerm — 园区产品运维终端工具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5669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C6DAEC"/>
                </a:solidFill>
                <a:latin typeface="微软雅黑"/>
              </a:rPr>
              <a:t>面向 VMS-U / UG-I500 / VMS-B / EGS / PMS 等系列服务器的免安装一站式运维平台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92640" y="329184"/>
            <a:ext cx="2011680" cy="274320"/>
          </a:xfrm>
          <a:prstGeom prst="roundRect">
            <a:avLst/>
          </a:prstGeom>
          <a:solidFill>
            <a:srgbClr val="1D5B94"/>
          </a:solidFill>
          <a:ln w="7620">
            <a:solidFill>
              <a:srgbClr val="1D5B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微软雅黑"/>
              </a:rPr>
              <a:t>AI 辅助开发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15568"/>
            <a:ext cx="5742432" cy="192024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115568"/>
            <a:ext cx="50292" cy="1920240"/>
          </a:xfrm>
          <a:prstGeom prst="rect">
            <a:avLst/>
          </a:prstGeom>
          <a:solidFill>
            <a:srgbClr val="E03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6656" y="1234440"/>
            <a:ext cx="5330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0332E"/>
                </a:solidFill>
                <a:latin typeface="微软雅黑"/>
              </a:rPr>
              <a:t>开发背景 — 二级权限操作痛点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" y="1572768"/>
            <a:ext cx="5303520" cy="18288"/>
          </a:xfrm>
          <a:prstGeom prst="rect">
            <a:avLst/>
          </a:prstGeom>
          <a:solidFill>
            <a:srgbClr val="E4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76656" y="1682495"/>
            <a:ext cx="806957" cy="214884"/>
          </a:xfrm>
          <a:prstGeom prst="roundRect">
            <a:avLst/>
          </a:prstGeom>
          <a:solidFill>
            <a:srgbClr val="FFF5F5"/>
          </a:solidFill>
          <a:ln w="7620">
            <a:solidFill>
              <a:srgbClr val="FF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>
                <a:solidFill>
                  <a:srgbClr val="C92A2A"/>
                </a:solidFill>
                <a:latin typeface="微软雅黑"/>
              </a:rPr>
              <a:t>输入 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3613" y="1691639"/>
            <a:ext cx="182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BBBBBB"/>
                </a:solidFill>
                <a:latin typeface="微软雅黑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66493" y="1682495"/>
            <a:ext cx="1184148" cy="214884"/>
          </a:xfrm>
          <a:prstGeom prst="roundRect">
            <a:avLst/>
          </a:prstGeom>
          <a:solidFill>
            <a:srgbClr val="FFF5F5"/>
          </a:solidFill>
          <a:ln w="7620">
            <a:solidFill>
              <a:srgbClr val="FF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>
                <a:solidFill>
                  <a:srgbClr val="C92A2A"/>
                </a:solidFill>
                <a:latin typeface="微软雅黑"/>
              </a:rPr>
              <a:t>输入 zhimakaimen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0641" y="1691639"/>
            <a:ext cx="182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BBBBBB"/>
                </a:solidFill>
                <a:latin typeface="微软雅黑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33522" y="1682495"/>
            <a:ext cx="578358" cy="214884"/>
          </a:xfrm>
          <a:prstGeom prst="roundRect">
            <a:avLst/>
          </a:prstGeom>
          <a:solidFill>
            <a:srgbClr val="FFF5F5"/>
          </a:solidFill>
          <a:ln w="7620">
            <a:solidFill>
              <a:srgbClr val="FF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>
                <a:solidFill>
                  <a:srgbClr val="C92A2A"/>
                </a:solidFill>
                <a:latin typeface="微软雅黑"/>
              </a:rPr>
              <a:t>Ctrl+Q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79" y="1691639"/>
            <a:ext cx="182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BBBBBB"/>
                </a:solidFill>
                <a:latin typeface="微软雅黑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94759" y="1682495"/>
            <a:ext cx="578358" cy="214884"/>
          </a:xfrm>
          <a:prstGeom prst="roundRect">
            <a:avLst/>
          </a:prstGeom>
          <a:solidFill>
            <a:srgbClr val="FFF5F5"/>
          </a:solidFill>
          <a:ln w="7620">
            <a:solidFill>
              <a:srgbClr val="FF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>
                <a:solidFill>
                  <a:srgbClr val="C92A2A"/>
                </a:solidFill>
                <a:latin typeface="微软雅黑"/>
              </a:rPr>
              <a:t>Ctrl+W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3118" y="1691639"/>
            <a:ext cx="182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BBBBBB"/>
                </a:solidFill>
                <a:latin typeface="微软雅黑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55998" y="1682495"/>
            <a:ext cx="886968" cy="214884"/>
          </a:xfrm>
          <a:prstGeom prst="roundRect">
            <a:avLst/>
          </a:prstGeom>
          <a:solidFill>
            <a:srgbClr val="FFF5F5"/>
          </a:solidFill>
          <a:ln w="7620">
            <a:solidFill>
              <a:srgbClr val="FF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>
                <a:solidFill>
                  <a:srgbClr val="C92A2A"/>
                </a:solidFill>
                <a:latin typeface="微软雅黑"/>
              </a:rPr>
              <a:t>输入二级密码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1988819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444B55"/>
                </a:solidFill>
                <a:latin typeface="微软雅黑"/>
              </a:rPr>
              <a:t>终端不显示任何输入内容，极易输入错误，错误 5 次锁定 30 分钟。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" y="2409444"/>
            <a:ext cx="5303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444B55"/>
                </a:solidFill>
                <a:latin typeface="微软雅黑"/>
              </a:rPr>
              <a:t>· 传统 SSH 工具需安装、部分收费，现场环境受限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" y="2606039"/>
            <a:ext cx="5303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444B55"/>
                </a:solidFill>
                <a:latin typeface="微软雅黑"/>
              </a:rPr>
              <a:t>· 多工具切换：终端、文件传输、抓包、诊断各自独立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" y="2802635"/>
            <a:ext cx="5303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444B55"/>
                </a:solidFill>
                <a:latin typeface="微软雅黑"/>
              </a:rPr>
              <a:t>· 设备型号多样，命令记忆负担重，新人上手慢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1115568"/>
            <a:ext cx="5330952" cy="192024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400800" y="1115568"/>
            <a:ext cx="50292" cy="1920240"/>
          </a:xfrm>
          <a:prstGeom prst="rect">
            <a:avLst/>
          </a:prstGeom>
          <a:solidFill>
            <a:srgbClr val="103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20256" y="1234440"/>
            <a:ext cx="4919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3A62"/>
                </a:solidFill>
                <a:latin typeface="微软雅黑"/>
              </a:rPr>
              <a:t>核心功能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20256" y="1572768"/>
            <a:ext cx="4892040" cy="18288"/>
          </a:xfrm>
          <a:prstGeom prst="rect">
            <a:avLst/>
          </a:prstGeom>
          <a:solidFill>
            <a:srgbClr val="E4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620256" y="1682495"/>
            <a:ext cx="2409444" cy="237744"/>
          </a:xfrm>
          <a:prstGeom prst="roundRect">
            <a:avLst/>
          </a:prstGeom>
          <a:solidFill>
            <a:srgbClr val="ECF3FA"/>
          </a:solidFill>
          <a:ln w="7620">
            <a:solidFill>
              <a:srgbClr val="C4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>
                <a:solidFill>
                  <a:srgbClr val="1D5B94"/>
                </a:solidFill>
                <a:latin typeface="微软雅黑"/>
              </a:rPr>
              <a:t>多标签 SSH / 串口终端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02852" y="1682495"/>
            <a:ext cx="2409444" cy="237744"/>
          </a:xfrm>
          <a:prstGeom prst="roundRect">
            <a:avLst/>
          </a:prstGeom>
          <a:solidFill>
            <a:srgbClr val="ECF3FA"/>
          </a:solidFill>
          <a:ln w="7620">
            <a:solidFill>
              <a:srgbClr val="C4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>
                <a:solidFill>
                  <a:srgbClr val="1D5B94"/>
                </a:solidFill>
                <a:latin typeface="微软雅黑"/>
              </a:rPr>
              <a:t>一键进入二级权限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620256" y="1956815"/>
            <a:ext cx="2409444" cy="237744"/>
          </a:xfrm>
          <a:prstGeom prst="roundRect">
            <a:avLst/>
          </a:prstGeom>
          <a:solidFill>
            <a:srgbClr val="ECF3FA"/>
          </a:solidFill>
          <a:ln w="7620">
            <a:solidFill>
              <a:srgbClr val="C4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>
                <a:solidFill>
                  <a:srgbClr val="1D5B94"/>
                </a:solidFill>
                <a:latin typeface="微软雅黑"/>
              </a:rPr>
              <a:t>诊断日志一键收集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02852" y="1956815"/>
            <a:ext cx="2409444" cy="237744"/>
          </a:xfrm>
          <a:prstGeom prst="roundRect">
            <a:avLst/>
          </a:prstGeom>
          <a:solidFill>
            <a:srgbClr val="ECF3FA"/>
          </a:solidFill>
          <a:ln w="7620">
            <a:solidFill>
              <a:srgbClr val="C4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>
                <a:solidFill>
                  <a:srgbClr val="1D5B94"/>
                </a:solidFill>
                <a:latin typeface="微软雅黑"/>
              </a:rPr>
              <a:t>VMS-U 数据库备份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20256" y="2231136"/>
            <a:ext cx="2409444" cy="237744"/>
          </a:xfrm>
          <a:prstGeom prst="roundRect">
            <a:avLst/>
          </a:prstGeom>
          <a:solidFill>
            <a:srgbClr val="ECF3FA"/>
          </a:solidFill>
          <a:ln w="7620">
            <a:solidFill>
              <a:srgbClr val="C4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>
                <a:solidFill>
                  <a:srgbClr val="1D5B94"/>
                </a:solidFill>
                <a:latin typeface="微软雅黑"/>
              </a:rPr>
              <a:t>版本升级全流程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02852" y="2231136"/>
            <a:ext cx="2409444" cy="237744"/>
          </a:xfrm>
          <a:prstGeom prst="roundRect">
            <a:avLst/>
          </a:prstGeom>
          <a:solidFill>
            <a:srgbClr val="ECF3FA"/>
          </a:solidFill>
          <a:ln w="7620">
            <a:solidFill>
              <a:srgbClr val="C4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>
                <a:solidFill>
                  <a:srgbClr val="1D5B94"/>
                </a:solidFill>
                <a:latin typeface="微软雅黑"/>
              </a:rPr>
              <a:t>图形化网络抓包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620256" y="2505456"/>
            <a:ext cx="2409444" cy="237744"/>
          </a:xfrm>
          <a:prstGeom prst="roundRect">
            <a:avLst/>
          </a:prstGeom>
          <a:solidFill>
            <a:srgbClr val="ECF3FA"/>
          </a:solidFill>
          <a:ln w="7620">
            <a:solidFill>
              <a:srgbClr val="C4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>
                <a:solidFill>
                  <a:srgbClr val="1D5B94"/>
                </a:solidFill>
                <a:latin typeface="微软雅黑"/>
              </a:rPr>
              <a:t>SFTP 文件管理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02852" y="2505456"/>
            <a:ext cx="2409444" cy="237744"/>
          </a:xfrm>
          <a:prstGeom prst="roundRect">
            <a:avLst/>
          </a:prstGeom>
          <a:solidFill>
            <a:srgbClr val="ECF3FA"/>
          </a:solidFill>
          <a:ln w="7620">
            <a:solidFill>
              <a:srgbClr val="C4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>
                <a:solidFill>
                  <a:srgbClr val="1D5B94"/>
                </a:solidFill>
                <a:latin typeface="微软雅黑"/>
              </a:rPr>
              <a:t>维护指南快速查阅</a:t>
            </a:r>
          </a:p>
        </p:txBody>
      </p: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763F2017-FA59-1A21-5424-9689085B0648}"/>
              </a:ext>
            </a:extLst>
          </p:cNvPr>
          <p:cNvGrpSpPr/>
          <p:nvPr/>
        </p:nvGrpSpPr>
        <p:grpSpPr>
          <a:xfrm>
            <a:off x="457200" y="3182400"/>
            <a:ext cx="11274552" cy="3255264"/>
            <a:chOff x="457200" y="3182112"/>
            <a:chExt cx="11274552" cy="3255264"/>
          </a:xfrm>
        </p:grpSpPr>
        <p:sp>
          <p:nvSpPr>
            <p:cNvPr id="25" name="Rectangle 24"/>
            <p:cNvSpPr/>
            <p:nvPr/>
          </p:nvSpPr>
          <p:spPr>
            <a:xfrm>
              <a:off x="457200" y="3182112"/>
              <a:ext cx="5742432" cy="2578608"/>
            </a:xfrm>
            <a:prstGeom prst="rect">
              <a:avLst/>
            </a:prstGeom>
            <a:gradFill flip="none" rotWithShape="1">
              <a:gsLst>
                <a:gs pos="0">
                  <a:srgbClr val="4A54FF">
                    <a:shade val="30000"/>
                    <a:satMod val="115000"/>
                  </a:srgbClr>
                </a:gs>
                <a:gs pos="50000">
                  <a:srgbClr val="4A54FF">
                    <a:shade val="67500"/>
                    <a:satMod val="115000"/>
                  </a:srgbClr>
                </a:gs>
                <a:gs pos="100000">
                  <a:srgbClr val="4A54FF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6350">
              <a:solidFill>
                <a:srgbClr val="4A54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76656" y="3300984"/>
              <a:ext cx="5330952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400"/>
                </a:spcAft>
              </a:pPr>
              <a:r>
                <a:rPr sz="1300" b="1" dirty="0" err="1">
                  <a:solidFill>
                    <a:srgbClr val="FFFFFF"/>
                  </a:solidFill>
                  <a:latin typeface="微软雅黑"/>
                </a:rPr>
                <a:t>解决方案</a:t>
              </a:r>
              <a:r>
                <a:rPr sz="1300" b="1" dirty="0">
                  <a:solidFill>
                    <a:srgbClr val="FFFFFF"/>
                  </a:solidFill>
                  <a:latin typeface="微软雅黑"/>
                </a:rPr>
                <a:t> — </a:t>
              </a:r>
              <a:r>
                <a:rPr sz="1300" b="1" dirty="0" err="1">
                  <a:solidFill>
                    <a:srgbClr val="FFFFFF"/>
                  </a:solidFill>
                  <a:latin typeface="微软雅黑"/>
                </a:rPr>
                <a:t>免安装轻量化运维终端</a:t>
              </a:r>
              <a:endParaRPr sz="1300" b="1" dirty="0">
                <a:solidFill>
                  <a:srgbClr val="FFFFFF"/>
                </a:solidFill>
                <a:latin typeface="微软雅黑"/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676656" y="3639312"/>
              <a:ext cx="5303520" cy="18288"/>
            </a:xfrm>
            <a:prstGeom prst="rect">
              <a:avLst/>
            </a:prstGeom>
            <a:solidFill>
              <a:srgbClr val="6C74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76656" y="3749039"/>
              <a:ext cx="5303520" cy="69858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50000"/>
                </a:lnSpc>
                <a:spcAft>
                  <a:spcPts val="400"/>
                </a:spcAft>
              </a:pPr>
              <a:r>
                <a:rPr sz="1050" b="0" dirty="0" err="1">
                  <a:solidFill>
                    <a:srgbClr val="FFFFFF"/>
                  </a:solidFill>
                  <a:latin typeface="微软雅黑"/>
                </a:rPr>
                <a:t>双击</a:t>
              </a:r>
              <a:r>
                <a:rPr sz="1050" b="0" dirty="0">
                  <a:solidFill>
                    <a:srgbClr val="FFFFFF"/>
                  </a:solidFill>
                  <a:latin typeface="微软雅黑"/>
                </a:rPr>
                <a:t> EXE </a:t>
              </a:r>
              <a:r>
                <a:rPr sz="1050" b="0" dirty="0" err="1">
                  <a:solidFill>
                    <a:srgbClr val="FFFFFF"/>
                  </a:solidFill>
                  <a:latin typeface="微软雅黑"/>
                </a:rPr>
                <a:t>即可启动，浏览器自动打开操作界面，无需安装运行环境、无需联网，依赖全部内置打包。除传统</a:t>
              </a:r>
              <a:r>
                <a:rPr sz="1050" b="0" dirty="0">
                  <a:solidFill>
                    <a:srgbClr val="FFFFFF"/>
                  </a:solidFill>
                  <a:latin typeface="微软雅黑"/>
                </a:rPr>
                <a:t> SSH </a:t>
              </a:r>
              <a:r>
                <a:rPr sz="1050" b="0" dirty="0" err="1">
                  <a:solidFill>
                    <a:srgbClr val="FFFFFF"/>
                  </a:solidFill>
                  <a:latin typeface="微软雅黑"/>
                </a:rPr>
                <a:t>功能外，集成园区产品特有功能：一键进入二级、诊断收集、数据库备份、版本升级、网络抓包、维护指南，后续计划合入巡检功能</a:t>
              </a:r>
              <a:r>
                <a:rPr sz="1050" b="0" dirty="0">
                  <a:solidFill>
                    <a:srgbClr val="FFFFFF"/>
                  </a:solidFill>
                  <a:latin typeface="微软雅黑"/>
                </a:rPr>
                <a:t>。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676656" y="4593932"/>
              <a:ext cx="562356" cy="237744"/>
            </a:xfrm>
            <a:prstGeom prst="roundRect">
              <a:avLst/>
            </a:prstGeom>
            <a:solidFill>
              <a:srgbClr val="606AFF"/>
            </a:solidFill>
            <a:ln w="7620">
              <a:solidFill>
                <a:srgbClr val="8A92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sz="900">
                  <a:solidFill>
                    <a:srgbClr val="FFFFFF"/>
                  </a:solidFill>
                  <a:latin typeface="微软雅黑"/>
                </a:rPr>
                <a:t>免安装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1312164" y="4593932"/>
              <a:ext cx="676656" cy="237744"/>
            </a:xfrm>
            <a:prstGeom prst="roundRect">
              <a:avLst/>
            </a:prstGeom>
            <a:solidFill>
              <a:srgbClr val="606AFF"/>
            </a:solidFill>
            <a:ln w="7620">
              <a:solidFill>
                <a:srgbClr val="8A92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sz="900">
                  <a:solidFill>
                    <a:srgbClr val="FFFFFF"/>
                  </a:solidFill>
                  <a:latin typeface="微软雅黑"/>
                </a:rPr>
                <a:t>离线可用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2061972" y="4593932"/>
              <a:ext cx="1002411" cy="237744"/>
            </a:xfrm>
            <a:prstGeom prst="roundRect">
              <a:avLst/>
            </a:prstGeom>
            <a:solidFill>
              <a:srgbClr val="606AFF"/>
            </a:solidFill>
            <a:ln w="7620">
              <a:solidFill>
                <a:srgbClr val="8A92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sz="900">
                  <a:solidFill>
                    <a:srgbClr val="FFFFFF"/>
                  </a:solidFill>
                  <a:latin typeface="微软雅黑"/>
                </a:rPr>
                <a:t>16.7MB 单文件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3137535" y="4593932"/>
              <a:ext cx="916686" cy="237744"/>
            </a:xfrm>
            <a:prstGeom prst="roundRect">
              <a:avLst/>
            </a:prstGeom>
            <a:solidFill>
              <a:srgbClr val="606AFF"/>
            </a:solidFill>
            <a:ln w="7620">
              <a:solidFill>
                <a:srgbClr val="8A92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sz="900">
                  <a:solidFill>
                    <a:srgbClr val="FFFFFF"/>
                  </a:solidFill>
                  <a:latin typeface="微软雅黑"/>
                </a:rPr>
                <a:t>5 种设备适配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4127373" y="4593932"/>
              <a:ext cx="562356" cy="237744"/>
            </a:xfrm>
            <a:prstGeom prst="roundRect">
              <a:avLst/>
            </a:prstGeom>
            <a:solidFill>
              <a:srgbClr val="606AFF"/>
            </a:solidFill>
            <a:ln w="7620">
              <a:solidFill>
                <a:srgbClr val="8A92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sz="900">
                  <a:solidFill>
                    <a:srgbClr val="FFFFFF"/>
                  </a:solidFill>
                  <a:latin typeface="微软雅黑"/>
                </a:rPr>
                <a:t>一站式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400800" y="3182112"/>
              <a:ext cx="5330952" cy="2578608"/>
            </a:xfrm>
            <a:prstGeom prst="rect">
              <a:avLst/>
            </a:prstGeom>
            <a:solidFill>
              <a:srgbClr val="FFFFFF"/>
            </a:solidFill>
            <a:ln w="11430">
              <a:solidFill>
                <a:srgbClr val="D8E1E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6400800" y="3182112"/>
              <a:ext cx="50292" cy="2578608"/>
            </a:xfrm>
            <a:prstGeom prst="rect">
              <a:avLst/>
            </a:prstGeom>
            <a:solidFill>
              <a:srgbClr val="E06A1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620256" y="3300984"/>
              <a:ext cx="4919472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400"/>
                </a:spcAft>
              </a:pPr>
              <a:r>
                <a:rPr sz="1300" b="1">
                  <a:solidFill>
                    <a:srgbClr val="E06A18"/>
                  </a:solidFill>
                  <a:latin typeface="微软雅黑"/>
                </a:rPr>
                <a:t>开发成效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6620256" y="3639312"/>
              <a:ext cx="4892040" cy="18288"/>
            </a:xfrm>
            <a:prstGeom prst="rect">
              <a:avLst/>
            </a:prstGeom>
            <a:solidFill>
              <a:srgbClr val="E4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6620256" y="3739896"/>
              <a:ext cx="182880" cy="182880"/>
            </a:xfrm>
            <a:prstGeom prst="roundRect">
              <a:avLst/>
            </a:prstGeom>
            <a:solidFill>
              <a:srgbClr val="E06A1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微软雅黑"/>
                </a:rPr>
                <a:t>1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6876288" y="3730752"/>
              <a:ext cx="4636008" cy="5486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100"/>
                </a:spcAft>
              </a:pPr>
              <a:r>
                <a:rPr sz="1050" b="1">
                  <a:solidFill>
                    <a:srgbClr val="103A62"/>
                  </a:solidFill>
                  <a:latin typeface="微软雅黑"/>
                </a:rPr>
                <a:t>二级权限一键进入</a:t>
              </a:r>
            </a:p>
            <a:p>
              <a:pPr algn="l">
                <a:lnSpc>
                  <a:spcPct val="120000"/>
                </a:lnSpc>
                <a:spcAft>
                  <a:spcPts val="400"/>
                </a:spcAft>
              </a:pPr>
              <a:r>
                <a:rPr sz="950" b="0">
                  <a:solidFill>
                    <a:srgbClr val="444B55"/>
                  </a:solidFill>
                  <a:latin typeface="微软雅黑"/>
                </a:rPr>
                <a:t>5 步繁琐操作简化为一键点击，自动完成全流程</a:t>
              </a:r>
            </a:p>
          </p:txBody>
        </p:sp>
        <p:sp>
          <p:nvSpPr>
            <p:cNvPr id="52" name="Rounded Rectangle 51"/>
            <p:cNvSpPr/>
            <p:nvPr/>
          </p:nvSpPr>
          <p:spPr>
            <a:xfrm>
              <a:off x="6620256" y="4142232"/>
              <a:ext cx="182880" cy="182880"/>
            </a:xfrm>
            <a:prstGeom prst="roundRect">
              <a:avLst/>
            </a:prstGeom>
            <a:solidFill>
              <a:srgbClr val="E06A1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微软雅黑"/>
                </a:rPr>
                <a:t>2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876288" y="4133088"/>
              <a:ext cx="4636008" cy="5486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100"/>
                </a:spcAft>
              </a:pPr>
              <a:r>
                <a:rPr sz="1050" b="1">
                  <a:solidFill>
                    <a:srgbClr val="103A62"/>
                  </a:solidFill>
                  <a:latin typeface="微软雅黑"/>
                </a:rPr>
                <a:t>文件传输三级降级</a:t>
              </a:r>
            </a:p>
            <a:p>
              <a:pPr algn="l">
                <a:lnSpc>
                  <a:spcPct val="120000"/>
                </a:lnSpc>
                <a:spcAft>
                  <a:spcPts val="400"/>
                </a:spcAft>
              </a:pPr>
              <a:r>
                <a:rPr sz="950" b="0">
                  <a:solidFill>
                    <a:srgbClr val="444B55"/>
                  </a:solidFill>
                  <a:latin typeface="微软雅黑"/>
                </a:rPr>
                <a:t>SFTP → SCP → base64 自动降级，成功率接近 100%</a:t>
              </a:r>
            </a:p>
          </p:txBody>
        </p:sp>
        <p:sp>
          <p:nvSpPr>
            <p:cNvPr id="54" name="Rounded Rectangle 53"/>
            <p:cNvSpPr/>
            <p:nvPr/>
          </p:nvSpPr>
          <p:spPr>
            <a:xfrm>
              <a:off x="6620256" y="4544568"/>
              <a:ext cx="182880" cy="182880"/>
            </a:xfrm>
            <a:prstGeom prst="roundRect">
              <a:avLst/>
            </a:prstGeom>
            <a:solidFill>
              <a:srgbClr val="E06A1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微软雅黑"/>
                </a:rPr>
                <a:t>3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6876288" y="4535424"/>
              <a:ext cx="4636008" cy="5486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100"/>
                </a:spcAft>
              </a:pPr>
              <a:r>
                <a:rPr sz="1050" b="1">
                  <a:solidFill>
                    <a:srgbClr val="103A62"/>
                  </a:solidFill>
                  <a:latin typeface="微软雅黑"/>
                </a:rPr>
                <a:t>设备信息自动识别</a:t>
              </a:r>
            </a:p>
            <a:p>
              <a:pPr algn="l">
                <a:lnSpc>
                  <a:spcPct val="120000"/>
                </a:lnSpc>
                <a:spcAft>
                  <a:spcPts val="400"/>
                </a:spcAft>
              </a:pPr>
              <a:r>
                <a:rPr sz="950" b="0">
                  <a:solidFill>
                    <a:srgbClr val="444B55"/>
                  </a:solidFill>
                  <a:latin typeface="微软雅黑"/>
                </a:rPr>
                <a:t>5 种设备类型自动匹配命令，无需人工记忆</a:t>
              </a:r>
            </a:p>
          </p:txBody>
        </p:sp>
        <p:sp>
          <p:nvSpPr>
            <p:cNvPr id="56" name="Rounded Rectangle 55"/>
            <p:cNvSpPr/>
            <p:nvPr/>
          </p:nvSpPr>
          <p:spPr>
            <a:xfrm>
              <a:off x="6620256" y="4946904"/>
              <a:ext cx="182880" cy="182880"/>
            </a:xfrm>
            <a:prstGeom prst="roundRect">
              <a:avLst/>
            </a:prstGeom>
            <a:solidFill>
              <a:srgbClr val="E06A1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微软雅黑"/>
                </a:rPr>
                <a:t>4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6876288" y="4937760"/>
              <a:ext cx="4636008" cy="5486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100"/>
                </a:spcAft>
              </a:pPr>
              <a:r>
                <a:rPr sz="1050" b="1">
                  <a:solidFill>
                    <a:srgbClr val="103A62"/>
                  </a:solidFill>
                  <a:latin typeface="微软雅黑"/>
                </a:rPr>
                <a:t>SSH 连接三重保活</a:t>
              </a:r>
            </a:p>
            <a:p>
              <a:pPr algn="l">
                <a:lnSpc>
                  <a:spcPct val="120000"/>
                </a:lnSpc>
                <a:spcAft>
                  <a:spcPts val="400"/>
                </a:spcAft>
              </a:pPr>
              <a:r>
                <a:rPr sz="950" b="0">
                  <a:solidFill>
                    <a:srgbClr val="444B55"/>
                  </a:solidFill>
                  <a:latin typeface="微软雅黑"/>
                </a:rPr>
                <a:t>keepalive + 前端心跳，解决长时间空闲断连</a:t>
              </a:r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6620256" y="5349240"/>
              <a:ext cx="182880" cy="182880"/>
            </a:xfrm>
            <a:prstGeom prst="roundRect">
              <a:avLst/>
            </a:prstGeom>
            <a:solidFill>
              <a:srgbClr val="E06A1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微软雅黑"/>
                </a:rPr>
                <a:t>5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6876288" y="5340096"/>
              <a:ext cx="4636008" cy="5486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100"/>
                </a:spcAft>
              </a:pPr>
              <a:r>
                <a:rPr sz="1050" b="1">
                  <a:solidFill>
                    <a:srgbClr val="103A62"/>
                  </a:solidFill>
                  <a:latin typeface="微软雅黑"/>
                </a:rPr>
                <a:t>离线全打包，开箱即用</a:t>
              </a:r>
            </a:p>
            <a:p>
              <a:pPr algn="l">
                <a:lnSpc>
                  <a:spcPct val="120000"/>
                </a:lnSpc>
                <a:spcAft>
                  <a:spcPts val="400"/>
                </a:spcAft>
              </a:pPr>
              <a:r>
                <a:rPr sz="950" b="0">
                  <a:solidFill>
                    <a:srgbClr val="444B55"/>
                  </a:solidFill>
                  <a:latin typeface="微软雅黑"/>
                </a:rPr>
                <a:t>16.7MB 单 EXE，现场无网环境双击即用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457200" y="5870448"/>
              <a:ext cx="11274552" cy="566928"/>
            </a:xfrm>
            <a:prstGeom prst="rect">
              <a:avLst/>
            </a:prstGeom>
            <a:solidFill>
              <a:srgbClr val="ECF3FA"/>
            </a:solidFill>
            <a:ln w="10160">
              <a:solidFill>
                <a:srgbClr val="D8E1E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713232" y="5961888"/>
              <a:ext cx="1463040" cy="4114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500" b="1">
                  <a:solidFill>
                    <a:srgbClr val="103A62"/>
                  </a:solidFill>
                  <a:latin typeface="微软雅黑"/>
                </a:rPr>
                <a:t>8+</a:t>
              </a:r>
            </a:p>
            <a:p>
              <a:pPr algn="l">
                <a:spcAft>
                  <a:spcPts val="400"/>
                </a:spcAft>
              </a:pPr>
              <a:r>
                <a:rPr sz="850" b="0">
                  <a:solidFill>
                    <a:srgbClr val="8A939E"/>
                  </a:solidFill>
                  <a:latin typeface="微软雅黑"/>
                </a:rPr>
                <a:t>运维功能集成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1947672" y="5961888"/>
              <a:ext cx="1463040" cy="4114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500" b="1">
                  <a:solidFill>
                    <a:srgbClr val="103A62"/>
                  </a:solidFill>
                  <a:latin typeface="微软雅黑"/>
                </a:rPr>
                <a:t>5</a:t>
              </a:r>
            </a:p>
            <a:p>
              <a:pPr algn="l">
                <a:spcAft>
                  <a:spcPts val="400"/>
                </a:spcAft>
              </a:pPr>
              <a:r>
                <a:rPr sz="850" b="0">
                  <a:solidFill>
                    <a:srgbClr val="8A939E"/>
                  </a:solidFill>
                  <a:latin typeface="微软雅黑"/>
                </a:rPr>
                <a:t>设备类型适配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3182112" y="5961888"/>
              <a:ext cx="1463040" cy="4114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500" b="1">
                  <a:solidFill>
                    <a:srgbClr val="103A62"/>
                  </a:solidFill>
                  <a:latin typeface="微软雅黑"/>
                </a:rPr>
                <a:t>3</a:t>
              </a:r>
            </a:p>
            <a:p>
              <a:pPr algn="l">
                <a:spcAft>
                  <a:spcPts val="400"/>
                </a:spcAft>
              </a:pPr>
              <a:r>
                <a:rPr sz="850" b="0">
                  <a:solidFill>
                    <a:srgbClr val="8A939E"/>
                  </a:solidFill>
                  <a:latin typeface="微软雅黑"/>
                </a:rPr>
                <a:t>文件传输降级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4416552" y="5961888"/>
              <a:ext cx="1463040" cy="4114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500" b="1">
                  <a:solidFill>
                    <a:srgbClr val="103A62"/>
                  </a:solidFill>
                  <a:latin typeface="微软雅黑"/>
                </a:rPr>
                <a:t>100%</a:t>
              </a:r>
            </a:p>
            <a:p>
              <a:pPr algn="l">
                <a:spcAft>
                  <a:spcPts val="400"/>
                </a:spcAft>
              </a:pPr>
              <a:r>
                <a:rPr sz="850" b="0">
                  <a:solidFill>
                    <a:srgbClr val="8A939E"/>
                  </a:solidFill>
                  <a:latin typeface="微软雅黑"/>
                </a:rPr>
                <a:t>离线可用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5650992" y="5961888"/>
              <a:ext cx="1463040" cy="4114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500" b="1">
                  <a:solidFill>
                    <a:srgbClr val="103A62"/>
                  </a:solidFill>
                  <a:latin typeface="微软雅黑"/>
                </a:rPr>
                <a:t>16.7MB</a:t>
              </a:r>
            </a:p>
            <a:p>
              <a:pPr algn="l">
                <a:spcAft>
                  <a:spcPts val="400"/>
                </a:spcAft>
              </a:pPr>
              <a:r>
                <a:rPr sz="850" b="0">
                  <a:solidFill>
                    <a:srgbClr val="8A939E"/>
                  </a:solidFill>
                  <a:latin typeface="微软雅黑"/>
                </a:rPr>
                <a:t>单文件体积</a:t>
              </a:r>
            </a:p>
          </p:txBody>
        </p:sp>
        <p:sp>
          <p:nvSpPr>
            <p:cNvPr id="66" name="Rounded Rectangle 65"/>
            <p:cNvSpPr/>
            <p:nvPr/>
          </p:nvSpPr>
          <p:spPr>
            <a:xfrm>
              <a:off x="7315200" y="6025896"/>
              <a:ext cx="557403" cy="256032"/>
            </a:xfrm>
            <a:prstGeom prst="roundRect">
              <a:avLst/>
            </a:prstGeom>
            <a:solidFill>
              <a:srgbClr val="FFFFFF"/>
            </a:solidFill>
            <a:ln w="7620">
              <a:solidFill>
                <a:srgbClr val="C4D8E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sz="850">
                  <a:solidFill>
                    <a:srgbClr val="444B55"/>
                  </a:solidFill>
                  <a:latin typeface="微软雅黑"/>
                </a:rPr>
                <a:t>Python</a:t>
              </a:r>
            </a:p>
          </p:txBody>
        </p:sp>
        <p:sp>
          <p:nvSpPr>
            <p:cNvPr id="67" name="Rounded Rectangle 66"/>
            <p:cNvSpPr/>
            <p:nvPr/>
          </p:nvSpPr>
          <p:spPr>
            <a:xfrm>
              <a:off x="7936611" y="6025896"/>
              <a:ext cx="498030" cy="256032"/>
            </a:xfrm>
            <a:prstGeom prst="roundRect">
              <a:avLst/>
            </a:prstGeom>
            <a:solidFill>
              <a:srgbClr val="FFFFFF"/>
            </a:solidFill>
            <a:ln w="7620">
              <a:solidFill>
                <a:srgbClr val="C4D8E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sz="850">
                  <a:solidFill>
                    <a:srgbClr val="444B55"/>
                  </a:solidFill>
                  <a:latin typeface="微软雅黑"/>
                </a:rPr>
                <a:t>Flask</a:t>
              </a:r>
            </a:p>
          </p:txBody>
        </p:sp>
        <p:sp>
          <p:nvSpPr>
            <p:cNvPr id="68" name="Rounded Rectangle 67"/>
            <p:cNvSpPr/>
            <p:nvPr/>
          </p:nvSpPr>
          <p:spPr>
            <a:xfrm>
              <a:off x="8498649" y="6025896"/>
              <a:ext cx="676148" cy="256032"/>
            </a:xfrm>
            <a:prstGeom prst="roundRect">
              <a:avLst/>
            </a:prstGeom>
            <a:solidFill>
              <a:srgbClr val="FFFFFF"/>
            </a:solidFill>
            <a:ln w="7620">
              <a:solidFill>
                <a:srgbClr val="C4D8E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sz="850">
                  <a:solidFill>
                    <a:srgbClr val="444B55"/>
                  </a:solidFill>
                  <a:latin typeface="微软雅黑"/>
                </a:rPr>
                <a:t>SocketIO</a:t>
              </a:r>
            </a:p>
          </p:txBody>
        </p:sp>
        <p:sp>
          <p:nvSpPr>
            <p:cNvPr id="69" name="Rounded Rectangle 68"/>
            <p:cNvSpPr/>
            <p:nvPr/>
          </p:nvSpPr>
          <p:spPr>
            <a:xfrm>
              <a:off x="9238805" y="6025896"/>
              <a:ext cx="676148" cy="256032"/>
            </a:xfrm>
            <a:prstGeom prst="roundRect">
              <a:avLst/>
            </a:prstGeom>
            <a:solidFill>
              <a:srgbClr val="FFFFFF"/>
            </a:solidFill>
            <a:ln w="7620">
              <a:solidFill>
                <a:srgbClr val="C4D8E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sz="850">
                  <a:solidFill>
                    <a:srgbClr val="444B55"/>
                  </a:solidFill>
                  <a:latin typeface="微软雅黑"/>
                </a:rPr>
                <a:t>Paramiko</a:t>
              </a:r>
            </a:p>
          </p:txBody>
        </p:sp>
        <p:sp>
          <p:nvSpPr>
            <p:cNvPr id="70" name="Rounded Rectangle 69"/>
            <p:cNvSpPr/>
            <p:nvPr/>
          </p:nvSpPr>
          <p:spPr>
            <a:xfrm>
              <a:off x="9978961" y="6025896"/>
              <a:ext cx="676148" cy="256032"/>
            </a:xfrm>
            <a:prstGeom prst="roundRect">
              <a:avLst/>
            </a:prstGeom>
            <a:solidFill>
              <a:srgbClr val="FFFFFF"/>
            </a:solidFill>
            <a:ln w="7620">
              <a:solidFill>
                <a:srgbClr val="C4D8E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sz="850">
                  <a:solidFill>
                    <a:srgbClr val="444B55"/>
                  </a:solidFill>
                  <a:latin typeface="微软雅黑"/>
                </a:rPr>
                <a:t>xterm.js</a:t>
              </a:r>
            </a:p>
          </p:txBody>
        </p:sp>
        <p:sp>
          <p:nvSpPr>
            <p:cNvPr id="71" name="Rounded Rectangle 70"/>
            <p:cNvSpPr/>
            <p:nvPr/>
          </p:nvSpPr>
          <p:spPr>
            <a:xfrm>
              <a:off x="10719117" y="6025896"/>
              <a:ext cx="854265" cy="256032"/>
            </a:xfrm>
            <a:prstGeom prst="roundRect">
              <a:avLst/>
            </a:prstGeom>
            <a:solidFill>
              <a:srgbClr val="FFFFFF"/>
            </a:solidFill>
            <a:ln w="7620">
              <a:solidFill>
                <a:srgbClr val="C4D8E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sz="850">
                  <a:solidFill>
                    <a:srgbClr val="444B55"/>
                  </a:solidFill>
                  <a:latin typeface="微软雅黑"/>
                </a:rPr>
                <a:t>PyInstaller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03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45720"/>
          </a:xfrm>
          <a:prstGeom prst="rect">
            <a:avLst/>
          </a:prstGeom>
          <a:solidFill>
            <a:srgbClr val="E06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75488" y="256032"/>
            <a:ext cx="475488" cy="475488"/>
          </a:xfrm>
          <a:prstGeom prst="roundRect">
            <a:avLst/>
          </a:prstGeom>
          <a:solidFill>
            <a:srgbClr val="1D5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182880"/>
            <a:ext cx="7863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微软雅黑"/>
              </a:rPr>
              <a:t>PDT 网上问题分析报告 SKILL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5669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C6DAEC"/>
                </a:solidFill>
                <a:latin typeface="微软雅黑"/>
              </a:rPr>
              <a:t>产品线问题单数据自动化分析与交互式 ECharts 报告生成技能（通用版 V2）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92640" y="329184"/>
            <a:ext cx="2011680" cy="274320"/>
          </a:xfrm>
          <a:prstGeom prst="roundRect">
            <a:avLst/>
          </a:prstGeom>
          <a:solidFill>
            <a:srgbClr val="1D5B94"/>
          </a:solidFill>
          <a:ln w="7620">
            <a:solidFill>
              <a:srgbClr val="1D5B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微软雅黑"/>
              </a:rPr>
              <a:t>AI 技能 · 通用版 V2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15567"/>
            <a:ext cx="5742432" cy="2182105"/>
          </a:xfrm>
          <a:prstGeom prst="rect">
            <a:avLst/>
          </a:prstGeom>
          <a:solidFill>
            <a:srgbClr val="FFFFFF"/>
          </a:solidFill>
          <a:ln w="11430">
            <a:solidFill>
              <a:srgbClr val="D8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199" y="1115568"/>
            <a:ext cx="50400" cy="2182104"/>
          </a:xfrm>
          <a:prstGeom prst="rect">
            <a:avLst/>
          </a:prstGeom>
          <a:solidFill>
            <a:srgbClr val="E03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6656" y="1234440"/>
            <a:ext cx="5330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0332E"/>
                </a:solidFill>
                <a:latin typeface="微软雅黑"/>
              </a:rPr>
              <a:t>开发背景 — 技服代表手动透视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" y="1572768"/>
            <a:ext cx="5303520" cy="18288"/>
          </a:xfrm>
          <a:prstGeom prst="rect">
            <a:avLst/>
          </a:prstGeom>
          <a:solidFill>
            <a:srgbClr val="E4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76656" y="1682495"/>
            <a:ext cx="806957" cy="214884"/>
          </a:xfrm>
          <a:prstGeom prst="roundRect">
            <a:avLst/>
          </a:prstGeom>
          <a:solidFill>
            <a:srgbClr val="FFF5F5"/>
          </a:solidFill>
          <a:ln w="7620">
            <a:solidFill>
              <a:srgbClr val="FF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>
                <a:solidFill>
                  <a:srgbClr val="C92A2A"/>
                </a:solidFill>
                <a:latin typeface="微软雅黑"/>
              </a:rPr>
              <a:t>导出 Excel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3613" y="1691639"/>
            <a:ext cx="182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BBBBBB"/>
                </a:solidFill>
                <a:latin typeface="微软雅黑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66493" y="1682495"/>
            <a:ext cx="886968" cy="214884"/>
          </a:xfrm>
          <a:prstGeom prst="roundRect">
            <a:avLst/>
          </a:prstGeom>
          <a:solidFill>
            <a:srgbClr val="FFF5F5"/>
          </a:solidFill>
          <a:ln w="7620">
            <a:solidFill>
              <a:srgbClr val="FF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>
                <a:solidFill>
                  <a:srgbClr val="C92A2A"/>
                </a:solidFill>
                <a:latin typeface="微软雅黑"/>
              </a:rPr>
              <a:t>手动透视分析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53461" y="1691639"/>
            <a:ext cx="182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BBBBBB"/>
                </a:solidFill>
                <a:latin typeface="微软雅黑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36341" y="1682495"/>
            <a:ext cx="886968" cy="214884"/>
          </a:xfrm>
          <a:prstGeom prst="roundRect">
            <a:avLst/>
          </a:prstGeom>
          <a:solidFill>
            <a:srgbClr val="FFF5F5"/>
          </a:solidFill>
          <a:ln w="7620">
            <a:solidFill>
              <a:srgbClr val="FF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>
                <a:solidFill>
                  <a:srgbClr val="C92A2A"/>
                </a:solidFill>
                <a:latin typeface="微软雅黑"/>
              </a:rPr>
              <a:t>逐项制作图表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3309" y="1691639"/>
            <a:ext cx="182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BBBBBB"/>
                </a:solidFill>
                <a:latin typeface="微软雅黑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06189" y="1682495"/>
            <a:ext cx="681227" cy="214884"/>
          </a:xfrm>
          <a:prstGeom prst="roundRect">
            <a:avLst/>
          </a:prstGeom>
          <a:solidFill>
            <a:srgbClr val="FFF5F5"/>
          </a:solidFill>
          <a:ln w="7620">
            <a:solidFill>
              <a:srgbClr val="FF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>
                <a:solidFill>
                  <a:srgbClr val="C92A2A"/>
                </a:solidFill>
                <a:latin typeface="微软雅黑"/>
              </a:rPr>
              <a:t>拼装 PPT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1988819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444B55"/>
                </a:solidFill>
                <a:latin typeface="微软雅黑"/>
              </a:rPr>
              <a:t>单份报告耗时数小时，维度覆盖不全，口径因人而异，换数据源即需从头再来。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" y="2409444"/>
            <a:ext cx="5303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444B55"/>
                </a:solidFill>
                <a:latin typeface="微软雅黑"/>
              </a:rPr>
              <a:t>· 耗时耗力：手动透视、算趋势、逐个制图，单份报告数小时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2606039"/>
            <a:ext cx="5303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444B55"/>
                </a:solidFill>
                <a:latin typeface="微软雅黑"/>
              </a:rPr>
              <a:t>· 维度不全：时间有限仅覆盖 3-5 个维度，SLA/OLA/根因难以全覆盖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" y="2802635"/>
            <a:ext cx="5303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444B55"/>
                </a:solidFill>
                <a:latin typeface="微软雅黑"/>
              </a:rPr>
              <a:t>· 口径不一：季度趋势 / 超期率 / 闭环时长等指标定义不统一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1115567"/>
            <a:ext cx="5330952" cy="2172961"/>
          </a:xfrm>
          <a:prstGeom prst="rect">
            <a:avLst/>
          </a:prstGeom>
          <a:solidFill>
            <a:srgbClr val="FFFFFF"/>
          </a:solidFill>
          <a:ln w="11430">
            <a:solidFill>
              <a:srgbClr val="D8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00800" y="1115568"/>
            <a:ext cx="50292" cy="2181600"/>
          </a:xfrm>
          <a:prstGeom prst="rect">
            <a:avLst/>
          </a:prstGeom>
          <a:solidFill>
            <a:srgbClr val="103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20256" y="1234440"/>
            <a:ext cx="4919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3A62"/>
                </a:solidFill>
                <a:latin typeface="微软雅黑"/>
              </a:rPr>
              <a:t>自动化分析维度（4 章 26 图）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20256" y="1572768"/>
            <a:ext cx="4892040" cy="18288"/>
          </a:xfrm>
          <a:prstGeom prst="rect">
            <a:avLst/>
          </a:prstGeom>
          <a:solidFill>
            <a:srgbClr val="E4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6620256" y="1682495"/>
            <a:ext cx="1581911" cy="237744"/>
          </a:xfrm>
          <a:prstGeom prst="roundRect">
            <a:avLst/>
          </a:prstGeom>
          <a:solidFill>
            <a:srgbClr val="ECF3FA"/>
          </a:solidFill>
          <a:ln w="7620">
            <a:solidFill>
              <a:srgbClr val="C4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>
                <a:solidFill>
                  <a:srgbClr val="1D5B94"/>
                </a:solidFill>
                <a:latin typeface="微软雅黑"/>
              </a:rPr>
              <a:t>季度趋势分析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75320" y="1682495"/>
            <a:ext cx="1581911" cy="237744"/>
          </a:xfrm>
          <a:prstGeom prst="roundRect">
            <a:avLst/>
          </a:prstGeom>
          <a:solidFill>
            <a:srgbClr val="ECF3FA"/>
          </a:solidFill>
          <a:ln w="7620">
            <a:solidFill>
              <a:srgbClr val="C4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>
                <a:solidFill>
                  <a:srgbClr val="1D5B94"/>
                </a:solidFill>
                <a:latin typeface="微软雅黑"/>
              </a:rPr>
              <a:t>SLA 超期率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930384" y="1682495"/>
            <a:ext cx="1581911" cy="237744"/>
          </a:xfrm>
          <a:prstGeom prst="roundRect">
            <a:avLst/>
          </a:prstGeom>
          <a:solidFill>
            <a:srgbClr val="ECF3FA"/>
          </a:solidFill>
          <a:ln w="7620">
            <a:solidFill>
              <a:srgbClr val="C4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>
                <a:solidFill>
                  <a:srgbClr val="1D5B94"/>
                </a:solidFill>
                <a:latin typeface="微软雅黑"/>
              </a:rPr>
              <a:t>OLA1/2/3 时效链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20256" y="1956815"/>
            <a:ext cx="1581911" cy="237744"/>
          </a:xfrm>
          <a:prstGeom prst="roundRect">
            <a:avLst/>
          </a:prstGeom>
          <a:solidFill>
            <a:srgbClr val="ECF3FA"/>
          </a:solidFill>
          <a:ln w="7620">
            <a:solidFill>
              <a:srgbClr val="C4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>
                <a:solidFill>
                  <a:srgbClr val="1D5B94"/>
                </a:solidFill>
                <a:latin typeface="微软雅黑"/>
              </a:rPr>
              <a:t>根因大小类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75320" y="1956815"/>
            <a:ext cx="1581911" cy="237744"/>
          </a:xfrm>
          <a:prstGeom prst="roundRect">
            <a:avLst/>
          </a:prstGeom>
          <a:solidFill>
            <a:srgbClr val="ECF3FA"/>
          </a:solidFill>
          <a:ln w="7620">
            <a:solidFill>
              <a:srgbClr val="C4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>
                <a:solidFill>
                  <a:srgbClr val="1D5B94"/>
                </a:solidFill>
                <a:latin typeface="微软雅黑"/>
              </a:rPr>
              <a:t>产品组定向分析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930384" y="1956815"/>
            <a:ext cx="1581911" cy="237744"/>
          </a:xfrm>
          <a:prstGeom prst="roundRect">
            <a:avLst/>
          </a:prstGeom>
          <a:solidFill>
            <a:srgbClr val="ECF3FA"/>
          </a:solidFill>
          <a:ln w="7620">
            <a:solidFill>
              <a:srgbClr val="C4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>
                <a:solidFill>
                  <a:srgbClr val="1D5B94"/>
                </a:solidFill>
                <a:latin typeface="微软雅黑"/>
              </a:rPr>
              <a:t>国内 / 海外区域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20256" y="2231136"/>
            <a:ext cx="1581911" cy="237744"/>
          </a:xfrm>
          <a:prstGeom prst="roundRect">
            <a:avLst/>
          </a:prstGeom>
          <a:solidFill>
            <a:srgbClr val="ECF3FA"/>
          </a:solidFill>
          <a:ln w="7620">
            <a:solidFill>
              <a:srgbClr val="C4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>
                <a:solidFill>
                  <a:srgbClr val="1D5B94"/>
                </a:solidFill>
                <a:latin typeface="微软雅黑"/>
              </a:rPr>
              <a:t>质量 vs 非质量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75320" y="2231136"/>
            <a:ext cx="1581911" cy="237744"/>
          </a:xfrm>
          <a:prstGeom prst="roundRect">
            <a:avLst/>
          </a:prstGeom>
          <a:solidFill>
            <a:srgbClr val="ECF3FA"/>
          </a:solidFill>
          <a:ln w="7620">
            <a:solidFill>
              <a:srgbClr val="C4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>
                <a:solidFill>
                  <a:srgbClr val="1D5B94"/>
                </a:solidFill>
                <a:latin typeface="微软雅黑"/>
              </a:rPr>
              <a:t>闭环时长分布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30384" y="2231136"/>
            <a:ext cx="1581911" cy="237744"/>
          </a:xfrm>
          <a:prstGeom prst="roundRect">
            <a:avLst/>
          </a:prstGeom>
          <a:solidFill>
            <a:srgbClr val="ECF3FA"/>
          </a:solidFill>
          <a:ln w="7620">
            <a:solidFill>
              <a:srgbClr val="C4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>
                <a:solidFill>
                  <a:srgbClr val="1D5B94"/>
                </a:solidFill>
                <a:latin typeface="微软雅黑"/>
              </a:rPr>
              <a:t>渠道 / 支持组分布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" y="3018525"/>
            <a:ext cx="5303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dirty="0">
                <a:solidFill>
                  <a:srgbClr val="444B55"/>
                </a:solidFill>
                <a:latin typeface="微软雅黑"/>
              </a:rPr>
              <a:t>· </a:t>
            </a:r>
            <a:r>
              <a:rPr sz="950" b="0" dirty="0" err="1">
                <a:solidFill>
                  <a:srgbClr val="444B55"/>
                </a:solidFill>
                <a:latin typeface="微软雅黑"/>
              </a:rPr>
              <a:t>难以复用：换产品线或换数据周期需从头再来</a:t>
            </a:r>
            <a:endParaRPr sz="950" b="0" dirty="0">
              <a:solidFill>
                <a:srgbClr val="444B55"/>
              </a:solidFill>
              <a:latin typeface="微软雅黑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57200" y="3361681"/>
            <a:ext cx="5742432" cy="2578608"/>
          </a:xfrm>
          <a:prstGeom prst="rect">
            <a:avLst/>
          </a:prstGeom>
          <a:gradFill flip="none" rotWithShape="1">
            <a:gsLst>
              <a:gs pos="0">
                <a:srgbClr val="4A54FF">
                  <a:shade val="30000"/>
                  <a:satMod val="115000"/>
                </a:srgbClr>
              </a:gs>
              <a:gs pos="50000">
                <a:srgbClr val="4A54FF">
                  <a:shade val="67500"/>
                  <a:satMod val="115000"/>
                </a:srgbClr>
              </a:gs>
              <a:gs pos="100000">
                <a:srgbClr val="4A54FF">
                  <a:shade val="100000"/>
                  <a:satMod val="115000"/>
                </a:srgbClr>
              </a:gs>
            </a:gsLst>
            <a:lin ang="16200000" scaled="1"/>
            <a:tileRect/>
          </a:gradFill>
          <a:ln w="6350">
            <a:solidFill>
              <a:srgbClr val="4A5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6656" y="3480553"/>
            <a:ext cx="5330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dirty="0" err="1">
                <a:solidFill>
                  <a:srgbClr val="FFFFFF"/>
                </a:solidFill>
                <a:latin typeface="微软雅黑"/>
              </a:rPr>
              <a:t>解决方案</a:t>
            </a:r>
            <a:r>
              <a:rPr sz="1300" b="1" dirty="0">
                <a:solidFill>
                  <a:srgbClr val="FFFFFF"/>
                </a:solidFill>
                <a:latin typeface="微软雅黑"/>
              </a:rPr>
              <a:t> — </a:t>
            </a:r>
            <a:r>
              <a:rPr sz="1300" b="1" dirty="0" err="1">
                <a:solidFill>
                  <a:srgbClr val="FFFFFF"/>
                </a:solidFill>
                <a:latin typeface="微软雅黑"/>
              </a:rPr>
              <a:t>全链路数据驱动自动化</a:t>
            </a:r>
            <a:endParaRPr sz="1300" b="1" dirty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76656" y="3818881"/>
            <a:ext cx="5303520" cy="18288"/>
          </a:xfrm>
          <a:prstGeom prst="rect">
            <a:avLst/>
          </a:prstGeom>
          <a:solidFill>
            <a:srgbClr val="6C7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6656" y="3928608"/>
            <a:ext cx="53035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050" b="0">
                <a:solidFill>
                  <a:srgbClr val="FFFFFF"/>
                </a:solidFill>
                <a:latin typeface="微软雅黑"/>
              </a:rPr>
              <a:t>提供 Excel 即可自动生成 4 章 26 图交互式 ECharts 报告。列名自适应（精确→归一→同义词→子串兜底），产品 / 故障分类可配置映射（留空则数据驱动），适配任意 PDT / 产品线。技服代表仅需补充总结分析即可交付。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6656" y="4788144"/>
            <a:ext cx="1476756" cy="237744"/>
          </a:xfrm>
          <a:prstGeom prst="roundRect">
            <a:avLst/>
          </a:prstGeom>
          <a:solidFill>
            <a:srgbClr val="606AFF"/>
          </a:solidFill>
          <a:ln w="7620">
            <a:solidFill>
              <a:srgbClr val="8A9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微软雅黑"/>
              </a:rPr>
              <a:t>预检→分析→渲染→校验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26564" y="4788144"/>
            <a:ext cx="790956" cy="237744"/>
          </a:xfrm>
          <a:prstGeom prst="roundRect">
            <a:avLst/>
          </a:prstGeom>
          <a:solidFill>
            <a:srgbClr val="606AFF"/>
          </a:solidFill>
          <a:ln w="7620">
            <a:solidFill>
              <a:srgbClr val="8A9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微软雅黑"/>
              </a:rPr>
              <a:t>列名自适应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090672" y="4788144"/>
            <a:ext cx="676656" cy="237744"/>
          </a:xfrm>
          <a:prstGeom prst="roundRect">
            <a:avLst/>
          </a:prstGeom>
          <a:solidFill>
            <a:srgbClr val="606AFF"/>
          </a:solidFill>
          <a:ln w="7620">
            <a:solidFill>
              <a:srgbClr val="8A9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微软雅黑"/>
              </a:rPr>
              <a:t>离线可用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40480" y="4788144"/>
            <a:ext cx="750950" cy="237744"/>
          </a:xfrm>
          <a:prstGeom prst="roundRect">
            <a:avLst/>
          </a:prstGeom>
          <a:solidFill>
            <a:srgbClr val="606AFF"/>
          </a:solidFill>
          <a:ln w="7620">
            <a:solidFill>
              <a:srgbClr val="8A9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微软雅黑"/>
              </a:rPr>
              <a:t>通用版 V2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3361681"/>
            <a:ext cx="5330952" cy="2578608"/>
          </a:xfrm>
          <a:prstGeom prst="rect">
            <a:avLst/>
          </a:prstGeom>
          <a:solidFill>
            <a:srgbClr val="FFFFFF"/>
          </a:solidFill>
          <a:ln w="11430">
            <a:solidFill>
              <a:srgbClr val="D8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400800" y="3361681"/>
            <a:ext cx="50292" cy="2578608"/>
          </a:xfrm>
          <a:prstGeom prst="rect">
            <a:avLst/>
          </a:prstGeom>
          <a:solidFill>
            <a:srgbClr val="E06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620256" y="3480553"/>
            <a:ext cx="4919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06A18"/>
                </a:solidFill>
                <a:latin typeface="微软雅黑"/>
              </a:rPr>
              <a:t>开发成效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20256" y="3818881"/>
            <a:ext cx="4892040" cy="18288"/>
          </a:xfrm>
          <a:prstGeom prst="rect">
            <a:avLst/>
          </a:prstGeom>
          <a:solidFill>
            <a:srgbClr val="E4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6620256" y="3919465"/>
            <a:ext cx="182880" cy="182880"/>
          </a:xfrm>
          <a:prstGeom prst="roundRect">
            <a:avLst/>
          </a:prstGeom>
          <a:solidFill>
            <a:srgbClr val="E06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76288" y="3910321"/>
            <a:ext cx="463600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103A62"/>
                </a:solidFill>
                <a:latin typeface="微软雅黑"/>
              </a:rPr>
              <a:t>报告生成：数小时 → 分钟级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444B55"/>
                </a:solidFill>
                <a:latin typeface="微软雅黑"/>
              </a:rPr>
              <a:t>预检、分析、渲染、校验全流程自动化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620256" y="4321801"/>
            <a:ext cx="182880" cy="182880"/>
          </a:xfrm>
          <a:prstGeom prst="roundRect">
            <a:avLst/>
          </a:prstGeom>
          <a:solidFill>
            <a:srgbClr val="E06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76288" y="4312657"/>
            <a:ext cx="463600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103A62"/>
                </a:solidFill>
                <a:latin typeface="微软雅黑"/>
              </a:rPr>
              <a:t>维度：3-5 个 → 26 张图表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444B55"/>
                </a:solidFill>
                <a:latin typeface="微软雅黑"/>
              </a:rPr>
              <a:t>趋势 / SLA / OLA / 根因 / 产品 / 区域全覆盖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620256" y="4724137"/>
            <a:ext cx="182880" cy="182880"/>
          </a:xfrm>
          <a:prstGeom prst="roundRect">
            <a:avLst/>
          </a:prstGeom>
          <a:solidFill>
            <a:srgbClr val="E06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76288" y="4714993"/>
            <a:ext cx="463600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103A62"/>
                </a:solidFill>
                <a:latin typeface="微软雅黑"/>
              </a:rPr>
              <a:t>通用适配任意 PDT / 产品线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444B55"/>
                </a:solidFill>
                <a:latin typeface="微软雅黑"/>
              </a:rPr>
              <a:t>列名自适应 + 分类映射可配置，换数据即复用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620256" y="5126473"/>
            <a:ext cx="182880" cy="182880"/>
          </a:xfrm>
          <a:prstGeom prst="roundRect">
            <a:avLst/>
          </a:prstGeom>
          <a:solidFill>
            <a:srgbClr val="E06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76288" y="5117329"/>
            <a:ext cx="463600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103A62"/>
                </a:solidFill>
                <a:latin typeface="微软雅黑"/>
              </a:rPr>
              <a:t>数据驱动叙述，口径统一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444B55"/>
                </a:solidFill>
                <a:latin typeface="微软雅黑"/>
              </a:rPr>
              <a:t>小结 / 标题 / 指标由 JSON 驱动，不硬编码数值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620256" y="5528809"/>
            <a:ext cx="182880" cy="182880"/>
          </a:xfrm>
          <a:prstGeom prst="roundRect">
            <a:avLst/>
          </a:prstGeom>
          <a:solidFill>
            <a:srgbClr val="E06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76288" y="5519665"/>
            <a:ext cx="463600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103A62"/>
                </a:solidFill>
                <a:latin typeface="微软雅黑"/>
              </a:rPr>
              <a:t>离线校验 + 交互式报告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444B55"/>
                </a:solidFill>
                <a:latin typeface="微软雅黑"/>
              </a:rPr>
              <a:t>ECharts 内联单文件 HTML，离线可用可交互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6050017"/>
            <a:ext cx="11274552" cy="566928"/>
          </a:xfrm>
          <a:prstGeom prst="rect">
            <a:avLst/>
          </a:prstGeom>
          <a:solidFill>
            <a:srgbClr val="ECF3FA"/>
          </a:solidFill>
          <a:ln w="10160">
            <a:solidFill>
              <a:srgbClr val="D8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13232" y="6141457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3A62"/>
                </a:solidFill>
                <a:latin typeface="微软雅黑"/>
              </a:rPr>
              <a:t>26</a:t>
            </a:r>
          </a:p>
          <a:p>
            <a:pPr algn="l">
              <a:spcAft>
                <a:spcPts val="400"/>
              </a:spcAft>
            </a:pPr>
            <a:r>
              <a:rPr sz="850" b="0">
                <a:solidFill>
                  <a:srgbClr val="8A939E"/>
                </a:solidFill>
                <a:latin typeface="微软雅黑"/>
              </a:rPr>
              <a:t>图表自动生成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947672" y="6141457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3A62"/>
                </a:solidFill>
                <a:latin typeface="微软雅黑"/>
              </a:rPr>
              <a:t>4</a:t>
            </a:r>
          </a:p>
          <a:p>
            <a:pPr algn="l">
              <a:spcAft>
                <a:spcPts val="400"/>
              </a:spcAft>
            </a:pPr>
            <a:r>
              <a:rPr sz="850" b="0">
                <a:solidFill>
                  <a:srgbClr val="8A939E"/>
                </a:solidFill>
                <a:latin typeface="微软雅黑"/>
              </a:rPr>
              <a:t>报告章节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182112" y="6141457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3A62"/>
                </a:solidFill>
                <a:latin typeface="微软雅黑"/>
              </a:rPr>
              <a:t>11+</a:t>
            </a:r>
          </a:p>
          <a:p>
            <a:pPr algn="l">
              <a:spcAft>
                <a:spcPts val="400"/>
              </a:spcAft>
            </a:pPr>
            <a:r>
              <a:rPr sz="850" b="0">
                <a:solidFill>
                  <a:srgbClr val="8A939E"/>
                </a:solidFill>
                <a:latin typeface="微软雅黑"/>
              </a:rPr>
              <a:t>分析维度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416552" y="6141457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3A62"/>
                </a:solidFill>
                <a:latin typeface="微软雅黑"/>
              </a:rPr>
              <a:t>∞</a:t>
            </a:r>
          </a:p>
          <a:p>
            <a:pPr algn="l">
              <a:spcAft>
                <a:spcPts val="400"/>
              </a:spcAft>
            </a:pPr>
            <a:r>
              <a:rPr sz="850" b="0">
                <a:solidFill>
                  <a:srgbClr val="8A939E"/>
                </a:solidFill>
                <a:latin typeface="微软雅黑"/>
              </a:rPr>
              <a:t>PDT 通用适配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650992" y="6141457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3A62"/>
                </a:solidFill>
                <a:latin typeface="微软雅黑"/>
              </a:rPr>
              <a:t>100%</a:t>
            </a:r>
          </a:p>
          <a:p>
            <a:pPr algn="l">
              <a:spcAft>
                <a:spcPts val="400"/>
              </a:spcAft>
            </a:pPr>
            <a:r>
              <a:rPr sz="850" b="0">
                <a:solidFill>
                  <a:srgbClr val="8A939E"/>
                </a:solidFill>
                <a:latin typeface="微软雅黑"/>
              </a:rPr>
              <a:t>数据驱动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315200" y="6205465"/>
            <a:ext cx="557403" cy="25603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4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>
                <a:solidFill>
                  <a:srgbClr val="444B55"/>
                </a:solidFill>
                <a:latin typeface="微软雅黑"/>
              </a:rPr>
              <a:t>Python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936611" y="6205465"/>
            <a:ext cx="676148" cy="25603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4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>
                <a:solidFill>
                  <a:srgbClr val="444B55"/>
                </a:solidFill>
                <a:latin typeface="微软雅黑"/>
              </a:rPr>
              <a:t>openpyxl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676767" y="6205465"/>
            <a:ext cx="616775" cy="25603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4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>
                <a:solidFill>
                  <a:srgbClr val="444B55"/>
                </a:solidFill>
                <a:latin typeface="微软雅黑"/>
              </a:rPr>
              <a:t>ECharts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357550" y="6205465"/>
            <a:ext cx="616775" cy="25603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4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>
                <a:solidFill>
                  <a:srgbClr val="444B55"/>
                </a:solidFill>
                <a:latin typeface="微软雅黑"/>
              </a:rPr>
              <a:t>Node.js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0038334" y="6205465"/>
            <a:ext cx="676148" cy="25603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4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>
                <a:solidFill>
                  <a:srgbClr val="444B55"/>
                </a:solidFill>
                <a:latin typeface="微软雅黑"/>
              </a:rPr>
              <a:t>AI Skill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414</Words>
  <Application>Microsoft Office PowerPoint</Application>
  <PresentationFormat>宽屏</PresentationFormat>
  <Paragraphs>130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微软雅黑</vt:lpstr>
      <vt:lpstr>Arial</vt:lpstr>
      <vt:lpstr>Calibri</vt:lpstr>
      <vt:lpstr>Office Theme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小勺 张</cp:lastModifiedBy>
  <cp:revision>2</cp:revision>
  <dcterms:created xsi:type="dcterms:W3CDTF">2013-01-27T09:14:16Z</dcterms:created>
  <dcterms:modified xsi:type="dcterms:W3CDTF">2026-10-12T08:57:51Z</dcterms:modified>
  <cp:category/>
</cp:coreProperties>
</file>